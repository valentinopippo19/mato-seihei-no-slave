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</ns0:sldIdLst>
  <ns0:sldSz cx="12192000" cy="6858000" type="screen4x3"/>
  <ns0:notesSz cx="6858000" cy="9144000"/>
  <ns0:embeddedFontLst>
    <ns0:embeddedFont>
      <ns0:font typeface="Plus Jakarta Sans"/>
      <ns0:bold ns1:id="rIdFont21"/>
      <ns0:regular ns1:id="rIdFont22"/>
    </ns0:embeddedFont>
    <ns0:embeddedFont>
      <ns0:font typeface="Rajdhani"/>
      <ns0:bold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Font21" Type="http://schemas.openxmlformats.org/officeDocument/2006/relationships/font" Target="fonts/9c9f6eec-0175-4603-bb5b-24201872d510.fntdata" /><ns0:Relationship Id="rIdFont22" Type="http://schemas.openxmlformats.org/officeDocument/2006/relationships/font" Target="fonts/b1daf4a7-8206-4cbb-a553-28ca0ebf62ed.fntdata" /><ns0:Relationship Id="rIdFont23" Type="http://schemas.openxmlformats.org/officeDocument/2006/relationships/font" Target="fonts/ce913a9b-9cf6-422f-95da-de9812ec4c0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607123"/>
            <a:ext cx="381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219" y="666750"/>
            <a:ext cx="4206180" cy="5524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2141339"/>
            <a:ext cx="788677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INFORME FINAL · ADOO / PDS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455664"/>
            <a:ext cx="6724903" cy="10894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FFFFF"/>
                </a:solidFill>
                <a:latin typeface="Rajdhani"/>
              </a:rPr>
              <a:t>MATO SEIHEI NO SLAVE</a:t>
            </a:r>
            <a:r>
              <a:t>
</a:t>
            </a:r>
            <a:r>
              <a:rPr b="1" sz="3900" i="0" u="none">
                <a:solidFill>
                  <a:srgbClr val="CBD5E1"/>
                </a:solidFill>
                <a:latin typeface="Rajdhani"/>
              </a:rPr>
              <a:t>BATTLE ARENA 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735585"/>
            <a:ext cx="6404669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CBD5E1"/>
                </a:solidFill>
                <a:latin typeface="Plus Jakarta Sans"/>
              </a:rPr>
              <a:t>Arquitectura, patrones de diseño, modelo de dominio y persistencia distribuida en Java 17 y Web.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535685"/>
            <a:ext cx="3893343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CBD5E1"/>
                </a:solidFill>
                <a:latin typeface="Plus Jakarta Sans"/>
              </a:rPr>
              <a:t>8 Capitanas · 12 Patrones GOF · Swing &amp;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90800"/>
            <a:ext cx="6355109" cy="1123950"/>
          </a:xfrm>
          <a:prstGeom prst="roundRect">
            <a:avLst>
              <a:gd name="adj" fmla="val 33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590800"/>
            <a:ext cx="38100" cy="11239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05250"/>
            <a:ext cx="3101429" cy="1304925"/>
          </a:xfrm>
          <a:prstGeom prst="roundRect">
            <a:avLst>
              <a:gd name="adj" fmla="val 583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863429" y="3905250"/>
            <a:ext cx="3101429" cy="1304925"/>
          </a:xfrm>
          <a:prstGeom prst="roundRect">
            <a:avLst>
              <a:gd name="adj" fmla="val 583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709" y="1614487"/>
            <a:ext cx="4236690" cy="4572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4095750"/>
            <a:ext cx="2857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929" y="4095750"/>
            <a:ext cx="28575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VISIÓN GENERAL DEL PROYECTO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Rajdhani"/>
              </a:rPr>
              <a:t>RESUMEN EJECUTIVO Y ALCANCE FUNCIONAL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2781300"/>
            <a:ext cx="76910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Rajdhani"/>
              </a:rPr>
              <a:t>SIMULADOR DE COMBATE OO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086100"/>
            <a:ext cx="5955059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334155"/>
                </a:solidFill>
                <a:latin typeface="Plus Jakarta Sans"/>
              </a:rPr>
              <a:t>Sistema de batallas tácticas basado en el universo de Mato Seihei no Slave.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4400550"/>
            <a:ext cx="35705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EQUIPOS DE 1 A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4657725"/>
            <a:ext cx="281567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Validación estricta sin duplicados entre bando aliado y oponente.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53929" y="4400550"/>
            <a:ext cx="35705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ESTRATEGIAS Y TURNOS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3929" y="4657725"/>
            <a:ext cx="2815679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Selección de atacante, objetivo, estrategia y habilidades únicas.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95525"/>
            <a:ext cx="5846415" cy="70485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14675"/>
            <a:ext cx="5846415" cy="70485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933825"/>
            <a:ext cx="5846415" cy="714375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762500"/>
            <a:ext cx="5846415" cy="70485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15" y="1595437"/>
            <a:ext cx="4783484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ESTRUCTURA DE SISTEMA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Rajdhani"/>
              </a:rPr>
              <a:t>ARQUITECTURA MODULAR Y FLUJO DE ALTO NIVEL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2428875"/>
            <a:ext cx="559876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Capa Model:</a:t>
            </a:r>
            <a:r>
              <a:rPr b="0" sz="1350" i="0" u="none">
                <a:solidFill>
                  <a:srgbClr val="1E293B"/>
                </a:solidFill>
                <a:latin typeface="Plus Jakarta Sans"/>
              </a:rPr>
              <a:t> Entidades, estados, composición y decoradores del dominio.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248025"/>
            <a:ext cx="559876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AnimeGameFacade:</a:t>
            </a:r>
            <a:r>
              <a:rPr b="0" sz="1350" i="0" u="none">
                <a:solidFill>
                  <a:srgbClr val="1E293B"/>
                </a:solidFill>
                <a:latin typeface="Plus Jakarta Sans"/>
              </a:rPr>
              <a:t> Punto de entrada unificado que aísla la complejidad.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4067175"/>
            <a:ext cx="5598765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Flujo Unidireccional:</a:t>
            </a:r>
            <a:r>
              <a:rPr b="0" sz="1350" i="0" u="none">
                <a:solidFill>
                  <a:srgbClr val="1E293B"/>
                </a:solidFill>
                <a:latin typeface="Plus Jakarta Sans"/>
              </a:rPr>
              <a:t> Entrada usuario → Controller → Facade → Observer/Persistencia.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4895850"/>
            <a:ext cx="559876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Persistencia Aislada:</a:t>
            </a:r>
            <a:r>
              <a:rPr b="0" sz="1350" i="0" u="none">
                <a:solidFill>
                  <a:srgbClr val="1E293B"/>
                </a:solidFill>
                <a:latin typeface="Plus Jakarta Sans"/>
              </a:rPr>
              <a:t> DAO, Repository y Gateway en memoria simulada.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959" y="1557337"/>
            <a:ext cx="3760440" cy="457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205037"/>
            <a:ext cx="6983759" cy="32766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205037"/>
          <a:ext cx="6983757" cy="32766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60451"/>
                <a:gridCol w="1645294"/>
                <a:gridCol w="875109"/>
                <a:gridCol w="892522"/>
                <a:gridCol w="910381"/>
              </a:tblGrid>
              <a:tr h="36406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Capitana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Elem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ATK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DEF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HP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6406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Konomi Tatara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WIND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406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Bell Tsukiyono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LIGHT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6406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Yakumo Ezo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WIND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195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406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Tenka Izumo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LIGHT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6406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Kyouka Uzen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SHADOW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406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Varvara Pilipenko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SHADOW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64066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Fubuki Azuma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WATER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79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215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6407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Ren Yamashiro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FIRE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94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0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225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PERSONAJES ACTIVOS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Rajdhani"/>
              </a:rPr>
              <a:t>ROSTER FINAL DE LAS 8 CAPITANAS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976687"/>
            <a:ext cx="6400800" cy="1076325"/>
          </a:xfrm>
          <a:prstGeom prst="roundRect">
            <a:avLst>
              <a:gd name="adj" fmla="val 7079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09862"/>
            <a:ext cx="3124200" cy="1076325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886200" y="2709862"/>
            <a:ext cx="3124200" cy="1076325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95437"/>
            <a:ext cx="4267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MECÁNICAS DE JUEGO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Rajdhani"/>
              </a:rPr>
              <a:t>HABILIDADES ESPECIALES Y ESTRATEGIAS DE COMBATE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167187"/>
            <a:ext cx="790098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USO ÚNICO DE HABILIDAD ESPECIAL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462462"/>
            <a:ext cx="61150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Cada capitana posee una habilidad de un solo uso por combate (ej. SLAVE +45 ATK, SUNSET +55 HP).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900362"/>
            <a:ext cx="36004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ESTRATEGIA AGRESIVA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195637"/>
            <a:ext cx="2838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Maximiza el ataque reduciendo la defensa efectiva rival.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6700" y="2900362"/>
            <a:ext cx="36004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ESTRATEGIA DEFENSIVA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76700" y="3195637"/>
            <a:ext cx="2838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Prioriza la mitigación de daño recibido por turno.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8887"/>
            <a:ext cx="5846415" cy="8001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81387"/>
            <a:ext cx="5846415" cy="8001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33887"/>
            <a:ext cx="5846415" cy="8001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15" y="1595437"/>
            <a:ext cx="478348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DISEÑO DE CLASES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Rajdhani"/>
              </a:rPr>
              <a:t>MODELO DE DOMINIO Y GESTIÓN DE ESTADOS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700337"/>
            <a:ext cx="71233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ENTIDAD WAIFU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957512"/>
            <a:ext cx="678414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Information Expert central que administra HP, ATK, DEF y estado.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652837"/>
            <a:ext cx="71233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PATRÓN COMPOSITE EN SQUAD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910012"/>
            <a:ext cx="678414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Tratamiento uniforme entre equipos completos y miembros individuales.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4605337"/>
            <a:ext cx="71233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TRANSICIÓN DE ESTADOS (STATE)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862512"/>
            <a:ext cx="678414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HealthyState, InjuredState (+15% daño) y KnockedOutState.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7962"/>
            <a:ext cx="3390900" cy="66675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52900" y="2747962"/>
            <a:ext cx="3390900" cy="66675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529012"/>
            <a:ext cx="3390900" cy="66675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52900" y="3529012"/>
            <a:ext cx="3390900" cy="66675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310062"/>
            <a:ext cx="3390900" cy="66675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52900" y="4310062"/>
            <a:ext cx="3390900" cy="66675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1576387"/>
            <a:ext cx="373380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ARQUITECTURA OO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Rajdhani"/>
              </a:rPr>
              <a:t>12 PATRONES DE DISEÑO APLICADOS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2950" y="2881312"/>
            <a:ext cx="3219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Strategy: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 Algoritmos intercambiables de daño.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6250" y="2881312"/>
            <a:ext cx="3219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Adapter: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 Adaptación de datos externos.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3662362"/>
            <a:ext cx="3219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Decorator: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 PowerUp y Armor sin alterar la 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6250" y="3662362"/>
            <a:ext cx="3219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Facade: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 AnimeGameFacade coordina subsistemas.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4443412"/>
            <a:ext cx="3219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Observer: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 Eventos decoupled hacia UI y Logros.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86250" y="4443412"/>
            <a:ext cx="32194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Factory &amp; DAO:</a:t>
            </a:r>
            <a:r>
              <a:rPr b="1" sz="1200" i="0" u="none">
                <a:solidFill>
                  <a:srgbClr val="0F172A"/>
                </a:solidFill>
                <a:latin typeface="Plus Jakarta Sans"/>
              </a:rPr>
              <a:t> </a:t>
            </a:r>
            <a:r>
              <a:rPr b="1" sz="1125" i="0" u="none">
                <a:solidFill>
                  <a:srgbClr val="475569"/>
                </a:solidFill>
                <a:latin typeface="Plus Jakarta Sans"/>
              </a:rPr>
              <a:t> Creación y abstracción de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805112"/>
            <a:ext cx="5846415" cy="1000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957637"/>
            <a:ext cx="5846415" cy="10001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805112"/>
            <a:ext cx="38100" cy="10001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3957637"/>
            <a:ext cx="38100" cy="10001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15" y="1595437"/>
            <a:ext cx="4783484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CALIDAD DE DISEÑO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Rajdhani"/>
              </a:rPr>
              <a:t>ALINEACIÓN GRASP Y SOLID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976562"/>
            <a:ext cx="71233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GRASP: ALTA COHESIÓN &amp; BAJO ACOPLAMIENTO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233737"/>
            <a:ext cx="552256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WaifuController delega la lógica del dominio; las factories centralizan la creación.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4129087"/>
            <a:ext cx="71233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SOLID: INVERSIÓN DE DEPENDENCIAS (DIP)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386262"/>
            <a:ext cx="552256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El dominio depende de abstracciones como WaifuRepository y CombatStrategy.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938587"/>
            <a:ext cx="5846415" cy="1057275"/>
          </a:xfrm>
          <a:prstGeom prst="roundRect">
            <a:avLst>
              <a:gd name="adj" fmla="val 720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67012"/>
            <a:ext cx="2847082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09082" y="2767012"/>
            <a:ext cx="2847082" cy="1019175"/>
          </a:xfrm>
          <a:prstGeom prst="roundRect">
            <a:avLst>
              <a:gd name="adj" fmla="val 74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15" y="1595437"/>
            <a:ext cx="4783484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DESACOPLAMIENTO DE INTERFAZ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Rajdhani"/>
              </a:rPr>
              <a:t>PATRONES MVC Y OBSERVER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129087"/>
            <a:ext cx="71733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OBSERVADORES DE EVENTOS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405312"/>
            <a:ext cx="556066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ConsoleNotificationObserver, UiNotificationObserver y AchievementObserver para desbloqueo de logros.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2957512"/>
            <a:ext cx="323673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MODELO (MODEL)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3233737"/>
            <a:ext cx="256133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Waifu, Squad, estados, estrategias y persistencia.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9582" y="2957512"/>
            <a:ext cx="323673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VISTA Y CONTROLADOR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9582" y="3233737"/>
            <a:ext cx="256133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WaifuGameFrame (Swing), Web UI y WaifuController.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05137"/>
            <a:ext cx="5846415" cy="8001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57637"/>
            <a:ext cx="5846415" cy="800100"/>
          </a:xfrm>
          <a:prstGeom prst="roundRect">
            <a:avLst>
              <a:gd name="adj" fmla="val 952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15" y="1595437"/>
            <a:ext cx="4783484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SOPORTE TÉCNICO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Rajdhani"/>
              </a:rPr>
              <a:t>PERSISTENCIA Y MULTIMEDIA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176587"/>
            <a:ext cx="71233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PERSISTENCIA HÍBRIDA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433762"/>
            <a:ext cx="678414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Archivos .properties en Desktop y localStorage en la versión Web.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129087"/>
            <a:ext cx="7123351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MEDIALAUNCHER &amp; VIDEO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4386262"/>
            <a:ext cx="678414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Aislamiento de Opening.mp4 y Ending.mp4 con opción de salto rápido.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081462"/>
            <a:ext cx="5846415" cy="1057275"/>
          </a:xfrm>
          <a:prstGeom prst="roundRect">
            <a:avLst>
              <a:gd name="adj" fmla="val 7207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624137"/>
            <a:ext cx="2847082" cy="1304925"/>
          </a:xfrm>
          <a:prstGeom prst="roundRect">
            <a:avLst>
              <a:gd name="adj" fmla="val 58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09082" y="2624137"/>
            <a:ext cx="2847082" cy="1304925"/>
          </a:xfrm>
          <a:prstGeom prst="roundRect">
            <a:avLst>
              <a:gd name="adj" fmla="val 583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915" y="1595437"/>
            <a:ext cx="4783484" cy="4572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814637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9582" y="2814637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Plus Jakarta Sans"/>
              </a:rPr>
              <a:t>CALIDAD DE CÓDIGO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Rajdhani"/>
              </a:rPr>
              <a:t>VERIFICACIÓN TÉCNICA Y REFACTORIZACIONES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271962"/>
            <a:ext cx="717335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REFACTORIZACIÓN DE CODE SMELLS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548187"/>
            <a:ext cx="556066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334155"/>
                </a:solidFill>
                <a:latin typeface="Plus Jakarta Sans"/>
              </a:rPr>
              <a:t>Extracción de MediaLauncher, desacoplamiento del algoritmo de daño y gestión centralizada en ImageRepository.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3119437"/>
            <a:ext cx="323673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JAVA 17: 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376612"/>
            <a:ext cx="256133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59 fuentes .java compiladas sin errores.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9582" y="3119437"/>
            <a:ext cx="323673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Rajdhani"/>
              </a:rPr>
              <a:t>JS VALIDADO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9582" y="3376612"/>
            <a:ext cx="2561332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Ejecución node --check sintácticamente correcta.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391917"/>
            <a:ext cx="6309419" cy="542925"/>
          </a:xfrm>
          <a:prstGeom prst="roundRect">
            <a:avLst>
              <a:gd name="adj" fmla="val 14035"/>
            </a:avLst>
          </a:prstGeom>
          <a:solidFill>
            <a:srgbClr val="1B2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4391917"/>
            <a:ext cx="38100" cy="5429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219" y="952500"/>
            <a:ext cx="4206180" cy="495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923157"/>
            <a:ext cx="788677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CBD5E1"/>
                </a:solidFill>
                <a:latin typeface="Plus Jakarta Sans"/>
              </a:rPr>
              <a:t>CONCLUSIÓN GENERAL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237482"/>
            <a:ext cx="6724903" cy="963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95"/>
              </a:lnSpc>
            </a:pPr>
            <a:r>
              <a:rPr b="1" sz="3300" i="0" u="none">
                <a:solidFill>
                  <a:srgbClr val="FFFFFF"/>
                </a:solidFill>
                <a:latin typeface="Rajdhani"/>
              </a:rPr>
              <a:t>PROYECTO FINALIZADO Y LISTO PARA ENTREGA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391792"/>
            <a:ext cx="6404669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Plus Jakarta Sans"/>
              </a:rPr>
              <a:t>Mato Seihei no Slave Battle Arena OO demuestra de forma práctica la aplicación rigurosa de patrones de diseño, principios SOLID/GRASP y arquitectura portable.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4563367"/>
            <a:ext cx="72676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Plus Jakarta Sans"/>
              </a:rPr>
              <a:t>¡Muchas gracias por su atención! ¿Preguntas o comentarios?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240030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1718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39433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1500" y="31623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" y="3933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" y="39338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" y="4705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47053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43175"/>
            <a:ext cx="857250" cy="4762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14700"/>
            <a:ext cx="857250" cy="4762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86225"/>
            <a:ext cx="857250" cy="4762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857750"/>
            <a:ext cx="857250" cy="4762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571500"/>
            <a:ext cx="19502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Rajdhani"/>
              </a:rPr>
              <a:t>IMAGE SOURCES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https://static.wikia.nocookie.net/mato-seihei-no-slave/images/1/13/Tenka_Izumo_S2.webp/revision/latest/scale-to-width/360?cb=20260328114154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6875" y="1238250"/>
            <a:ext cx="3976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mato-seihei-no-slave.fandom.com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1809750"/>
            <a:ext cx="10477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https://static.wikia.nocookie.net/mato-seihei-no-slave/images/6/64/Kyouka_Uzen_anime_design.png/revision/latest?cb=20221217124823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6875" y="2009775"/>
            <a:ext cx="3976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mato-seihei-no-slave.fandom.com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6875" y="2581275"/>
            <a:ext cx="9917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https://static.wikia.nocookie.net/mato-seihei-no-slave/images/9/9b/Ren_Yamashiro_S2.webp/revision/latest?cb=20260110101015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2781300"/>
            <a:ext cx="3976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mato-seihei-no-slave.fandom.com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6875" y="3352800"/>
            <a:ext cx="9917906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https://static.wikia.nocookie.net/mato-seihei-no-slave/images/f/f0/Konomi_Tatara_S2.webp/revision/latest?cb=20260110100535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6875" y="3552825"/>
            <a:ext cx="3976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mato-seihei-no-slave.fandom.com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124325"/>
            <a:ext cx="9810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https://static.wikia.nocookie.net/mato-seihei-no-slave/images/7/78/Yakumo_Ezo_S2.webp/revision/latest?cb=20260110100803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66875" y="4324350"/>
            <a:ext cx="3976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mato-seihei-no-slave.fandom.com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6875" y="4895850"/>
            <a:ext cx="98107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https://static.wikia.nocookie.net/mato-seihei-no-slave/images/f/f1/Bell_Tsukiyono_S2.webp/revision/latest?cb=20260110100718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095875"/>
            <a:ext cx="3976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mato-seihei-no-slave.fandom.com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195024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E293B"/>
                </a:solidFill>
                <a:latin typeface="Rajdhani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8225"/>
            <a:ext cx="10525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https://static.wikia.nocookie.net/mato-seihei-no-slave/images/d/d1/Varvara_Pilipenko_manga_pfp.webp/revision/latest/scale-to-width/360?cb=20260111062102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8250"/>
            <a:ext cx="3976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mato-seihei-no-slave.fandom.com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9750"/>
            <a:ext cx="992981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1E293B"/>
                </a:solidFill>
                <a:latin typeface="Plus Jakarta Sans"/>
              </a:rPr>
              <a:t>https://static.wikia.nocookie.net/mato-seihei-no-slave/images/9/90/Fubuki_Azuma_S2.webp/revision/latest?cb=20260110100927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9775"/>
            <a:ext cx="39766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293B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mato-seihei-no-slave.fandom.com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